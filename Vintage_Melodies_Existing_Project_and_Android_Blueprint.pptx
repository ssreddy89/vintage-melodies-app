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4389120" cy="46634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394960" y="1097280"/>
            <a:ext cx="6035040" cy="466344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F682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6821F"/>
                </a:solidFill>
              </a:defRPr>
            </a:pPr>
            <a:r>
              <a:t>Vintage Melodies</a:t>
            </a:r>
          </a:p>
          <a:p>
            <a:pPr>
              <a:spcAft>
                <a:spcPts val="1400"/>
              </a:spcAft>
              <a:defRPr sz="1800" b="1">
                <a:solidFill>
                  <a:srgbClr val="FFF8F0"/>
                </a:solidFill>
              </a:defRPr>
            </a:pPr>
            <a:r>
              <a:t>Existing Web Project &amp; Android App Development Blueprint</a:t>
            </a:r>
          </a:p>
          <a:p>
            <a:pPr>
              <a:spcAft>
                <a:spcPts val="2000"/>
              </a:spcAft>
              <a:defRPr sz="1300">
                <a:solidFill>
                  <a:srgbClr val="C8B29B"/>
                </a:solidFill>
              </a:defRPr>
            </a:pPr>
            <a:r>
              <a:t>Comprehensive Web Application Analysis, Architecture Documentation &amp; Native Android Implementation Specification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E69D45"/>
                </a:solidFill>
              </a:rPr>
              <a:t>Live Web Deployment: </a:t>
            </a:r>
            <a:r>
              <a:rPr sz="1100">
                <a:solidFill>
                  <a:srgbClr val="FFF8F0"/>
                </a:solidFill>
              </a:rPr>
              <a:t>https://vintage-melodies-kappa.vercel.app/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E69D45"/>
                </a:solidFill>
              </a:rPr>
              <a:t>Web Tech Stack: </a:t>
            </a:r>
            <a:r>
              <a:rPr sz="1100">
                <a:solidFill>
                  <a:srgbClr val="FFF8F0"/>
                </a:solidFill>
              </a:rPr>
              <a:t>HTML5 • CSS3 • JavaScript (ES6) • Node.js • Cloudflare R2 • Vercel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E69D45"/>
                </a:solidFill>
              </a:rPr>
              <a:t>Android Architecture: </a:t>
            </a:r>
            <a:r>
              <a:rPr sz="1100">
                <a:solidFill>
                  <a:srgbClr val="FFF8F0"/>
                </a:solidFill>
              </a:rPr>
              <a:t>100% Kotlin • Jetpack Compose • Media3 / ExoPlayer • Room DB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E69D45"/>
                </a:solidFill>
              </a:rPr>
              <a:t>Cloud Storage: </a:t>
            </a:r>
            <a:r>
              <a:rPr sz="1100">
                <a:solidFill>
                  <a:srgbClr val="FFF8F0"/>
                </a:solidFill>
              </a:rPr>
              <a:t>Cloudflare R2 Object Storage (Direct S3 Audio Streaming)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E69D45"/>
                </a:solidFill>
              </a:rPr>
              <a:t>Target Location: </a:t>
            </a:r>
            <a:r>
              <a:rPr sz="1100">
                <a:solidFill>
                  <a:srgbClr val="FFF8F0"/>
                </a:solidFill>
              </a:rPr>
              <a:t>D:\POC Projects\Vintage Melodies Android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Project Overview &amp;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Core Project Concept &amp;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FFD180"/>
                </a:solidFill>
              </a:rPr>
              <a:t>• Nostalgic Ambient Player: </a:t>
            </a:r>
            <a:r>
              <a:rPr sz="1300">
                <a:solidFill>
                  <a:srgbClr val="FFF8F0"/>
                </a:solidFill>
              </a:rPr>
              <a:t>Vintage Melodies is an immersive music platform offering warm retro melodies with full-screen vintage backdrop visuals.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D180"/>
                </a:solidFill>
              </a:rPr>
              <a:t>• Target Users: </a:t>
            </a:r>
            <a:r>
              <a:rPr sz="1300">
                <a:solidFill>
                  <a:srgbClr val="FFF8F0"/>
                </a:solidFill>
              </a:rPr>
              <a:t>Retro music enthusiasts, ambient listeners seeking continuous background playback, and users desiring curated regional playlists.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D180"/>
                </a:solidFill>
              </a:rPr>
              <a:t>• Current Deployment: </a:t>
            </a:r>
            <a:r>
              <a:rPr sz="1300">
                <a:solidFill>
                  <a:srgbClr val="FFF8F0"/>
                </a:solidFill>
              </a:rPr>
              <a:t>Deployed live on Vercel with high-performance static SPA asset delivery and Node.js serverless functions.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FFD180"/>
                </a:solidFill>
              </a:rPr>
              <a:t>• Core Value Proposition: </a:t>
            </a:r>
            <a:r>
              <a:rPr sz="1300">
                <a:solidFill>
                  <a:srgbClr val="FFF8F0"/>
                </a:solidFill>
              </a:rPr>
              <a:t>Delivers continuous nostalgic audio streaming with zero intrusion, warm translucent UI, and cloud-hosted MP3 library.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Motivation for Native Android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FFD180"/>
                </a:solidFill>
              </a:rPr>
              <a:t>• Background Throttling Fix: </a:t>
            </a:r>
            <a:r>
              <a:rPr sz="1200">
                <a:solidFill>
                  <a:srgbClr val="FFF8F0"/>
                </a:solidFill>
              </a:rPr>
              <a:t>Web browsers aggressively throttle JS background timers and suspend audio on lock screen. Android Native provides robust Foreground Media Services.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FD180"/>
                </a:solidFill>
              </a:rPr>
              <a:t>• Native Controls &amp; Lockscreen: </a:t>
            </a:r>
            <a:r>
              <a:rPr sz="1200">
                <a:solidFill>
                  <a:srgbClr val="FFF8F0"/>
                </a:solidFill>
              </a:rPr>
              <a:t>Integrate directly into Android Quick Settings, Lockscreen controls, Bluetooth hardware buttons, and Android Auto.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FFD180"/>
                </a:solidFill>
              </a:rPr>
              <a:t>• Offline Track Caching: </a:t>
            </a:r>
            <a:r>
              <a:rPr sz="1200">
                <a:solidFill>
                  <a:srgbClr val="FFF8F0"/>
                </a:solidFill>
              </a:rPr>
              <a:t>Store played audio locally in Room DB &amp; ExoPlayer disk cache for playback in zero-connectivity environments.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Existing Web Data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100" b="1">
                <a:solidFill>
                  <a:srgbClr val="FFF8F0"/>
                </a:solidFill>
              </a:defRPr>
            </a:pPr>
            <a:r>
              <a:t>User / Mobile Browser</a:t>
            </a:r>
          </a:p>
          <a:p>
            <a:pPr algn="ctr">
              <a:defRPr sz="1100" b="0">
                <a:solidFill>
                  <a:srgbClr val="FFF8F0"/>
                </a:solidFill>
              </a:defRPr>
            </a:pPr>
            <a:r>
              <a:t>       ↓ (HTTPS SPA Load)</a:t>
            </a:r>
          </a:p>
          <a:p>
            <a:pPr algn="ctr">
              <a:defRPr sz="1100" b="1">
                <a:solidFill>
                  <a:srgbClr val="F6821F"/>
                </a:solidFill>
              </a:defRPr>
            </a:pPr>
            <a:r>
              <a:t>Vintage Melodies Web App (HTML/CSS/JS)</a:t>
            </a:r>
          </a:p>
          <a:p>
            <a:pPr algn="ctr">
              <a:defRPr sz="1100" b="0">
                <a:solidFill>
                  <a:srgbClr val="FFF8F0"/>
                </a:solidFill>
              </a:defRPr>
            </a:pPr>
            <a:r>
              <a:t>       ↓ (REST API Calls)</a:t>
            </a:r>
          </a:p>
          <a:p>
            <a:pPr algn="ctr">
              <a:defRPr sz="1100" b="1">
                <a:solidFill>
                  <a:srgbClr val="FFF8F0"/>
                </a:solidFill>
              </a:defRPr>
            </a:pPr>
            <a:r>
              <a:t>Vercel Serverless / Node.js Express API</a:t>
            </a:r>
          </a:p>
          <a:p>
            <a:pPr algn="ctr">
              <a:defRPr sz="1100" b="0">
                <a:solidFill>
                  <a:srgbClr val="FFF8F0"/>
                </a:solidFill>
              </a:defRPr>
            </a:pPr>
            <a:r>
              <a:t>       ↓ (S3 Protocol / REST)</a:t>
            </a:r>
          </a:p>
          <a:p>
            <a:pPr algn="ctr">
              <a:defRPr sz="1100" b="1">
                <a:solidFill>
                  <a:srgbClr val="F6821F"/>
                </a:solidFill>
              </a:defRPr>
            </a:pPr>
            <a:r>
              <a:t>Cloudflare R2 Object Storage (Audio CDN)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Existing Web Project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Frontend &amp; Styling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HTML5 SPA: </a:t>
            </a:r>
            <a:r>
              <a:rPr sz="1100">
                <a:solidFill>
                  <a:srgbClr val="FFF8F0"/>
                </a:solidFill>
              </a:rPr>
              <a:t>Single-Page Application architecture with semantic HTML markup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Custom CSS3 System: </a:t>
            </a:r>
            <a:r>
              <a:rPr sz="1100">
                <a:solidFill>
                  <a:srgbClr val="FFF8F0"/>
                </a:solidFill>
              </a:rPr>
              <a:t>Glassmorphic backdrop-filter, dark gold themes, CSS variables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Vanilla JS Modules: </a:t>
            </a:r>
            <a:r>
              <a:rPr sz="1100">
                <a:solidFill>
                  <a:srgbClr val="FFF8F0"/>
                </a:solidFill>
              </a:rPr>
              <a:t>ES6 modular design (`app.js`, `player.js`, `admin.js`, `store.js`)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Responsive Layout: </a:t>
            </a:r>
            <a:r>
              <a:rPr sz="1100">
                <a:solidFill>
                  <a:srgbClr val="FFF8F0"/>
                </a:solidFill>
              </a:rPr>
              <a:t>CSS Grid &amp; Flexbox optimized for 320px mobile to 4K desktop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29184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Backend &amp; Server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Node.js Runtime: </a:t>
            </a:r>
            <a:r>
              <a:rPr sz="1100">
                <a:solidFill>
                  <a:srgbClr val="FFF8F0"/>
                </a:solidFill>
              </a:rPr>
              <a:t>Node.js v22.x execution environment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Express.js Framework: </a:t>
            </a:r>
            <a:r>
              <a:rPr sz="1100">
                <a:solidFill>
                  <a:srgbClr val="FFF8F0"/>
                </a:solidFill>
              </a:rPr>
              <a:t>REST API routing, middleware, error logging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Express-Session: </a:t>
            </a:r>
            <a:r>
              <a:rPr sz="1100">
                <a:solidFill>
                  <a:srgbClr val="FFF8F0"/>
                </a:solidFill>
              </a:rPr>
              <a:t>Session cookie management with serverless fallback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Vercel Functions: </a:t>
            </a:r>
            <a:r>
              <a:rPr sz="1100">
                <a:solidFill>
                  <a:srgbClr val="FFF8F0"/>
                </a:solidFill>
              </a:rPr>
              <a:t>Stateless serverless deployment compatibility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Cloud Storage &amp;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Cloudflare R2: </a:t>
            </a:r>
            <a:r>
              <a:rPr sz="1100">
                <a:solidFill>
                  <a:srgbClr val="FFF8F0"/>
                </a:solidFill>
              </a:rPr>
              <a:t>S3-compatible object storage for hosting audio MP3 files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AWS SDK v3: </a:t>
            </a:r>
            <a:r>
              <a:rPr sz="1100">
                <a:solidFill>
                  <a:srgbClr val="FFF8F0"/>
                </a:solidFill>
              </a:rPr>
              <a:t>`@aws-sdk/client-s3` used for bucket querying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Cloudflare CDN: </a:t>
            </a:r>
            <a:r>
              <a:rPr sz="1100">
                <a:solidFill>
                  <a:srgbClr val="FFF8F0"/>
                </a:solidFill>
              </a:rPr>
              <a:t>Direct CDN edge delivery (`pub-*.r2.dev`) for fast streaming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Metadata Parser: </a:t>
            </a:r>
            <a:r>
              <a:rPr sz="1100">
                <a:solidFill>
                  <a:srgbClr val="FFF8F0"/>
                </a:solidFill>
              </a:rPr>
              <a:t>Auto-cleans title, artist, and maps artwork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Database &amp; Client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59"/>
            <a:ext cx="47548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SQLite Database: </a:t>
            </a:r>
            <a:r>
              <a:rPr sz="1100">
                <a:solidFill>
                  <a:srgbClr val="FFF8F0"/>
                </a:solidFill>
              </a:rPr>
              <a:t>`better-sqlite3` database engine (`./data/vintage-melodies.db`)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Relational Schema: </a:t>
            </a:r>
            <a:r>
              <a:rPr sz="1100">
                <a:solidFill>
                  <a:srgbClr val="FFF8F0"/>
                </a:solidFill>
              </a:rPr>
              <a:t>Tables: `songs`, `playlists`, `playlist_songs` with foreign keys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Local Persistence: </a:t>
            </a:r>
            <a:r>
              <a:rPr sz="1100">
                <a:solidFill>
                  <a:srgbClr val="FFF8F0"/>
                </a:solidFill>
              </a:rPr>
              <a:t>Browser `LocalStorage` fallback via `store.js` for offline state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Admin Auth State: </a:t>
            </a:r>
            <a:r>
              <a:rPr sz="1100">
                <a:solidFill>
                  <a:srgbClr val="FFF8F0"/>
                </a:solidFill>
              </a:rPr>
              <a:t>Secure HTTP-only session cookies &amp; local role verification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Hosting &amp;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5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Vercel Hosting: </a:t>
            </a:r>
            <a:r>
              <a:rPr sz="1100">
                <a:solidFill>
                  <a:srgbClr val="FFF8F0"/>
                </a:solidFill>
              </a:rPr>
              <a:t>Automated deployment pipeline via `vercel.json`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Live URL: </a:t>
            </a:r>
            <a:r>
              <a:rPr sz="1100">
                <a:solidFill>
                  <a:srgbClr val="FFF8F0"/>
                </a:solidFill>
              </a:rPr>
              <a:t>https://vintage-melodies-kappa.vercel.app/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SSL &amp; Proxy: </a:t>
            </a:r>
            <a:r>
              <a:rPr sz="1100">
                <a:solidFill>
                  <a:srgbClr val="FFF8F0"/>
                </a:solidFill>
              </a:rPr>
              <a:t>Automatic HTTPS termination &amp; reverse proxy compatibility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Zero Dependency APIs: </a:t>
            </a:r>
            <a:r>
              <a:rPr sz="1100">
                <a:solidFill>
                  <a:srgbClr val="FFF8F0"/>
                </a:solidFill>
              </a:rPr>
              <a:t>Standalone Cloudflare R2 streaming (search APIs removed)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System Architecture &amp; End-to-End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Detailed Web Application Architecture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11680"/>
            <a:ext cx="411480" cy="411480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9D45"/>
                </a:solidFill>
              </a:defRPr>
            </a:pPr>
            <a:r>
              <a:t>1. Client SPA Initialization</a:t>
            </a:r>
          </a:p>
          <a:p>
            <a:pPr>
              <a:defRPr sz="1100">
                <a:solidFill>
                  <a:srgbClr val="FFF8F0"/>
                </a:solidFill>
              </a:defRPr>
            </a:pPr>
            <a:r>
              <a:t>Browser requests `index.html`. Client JS initializes `App`, `Player`, `Auth`, and `Store` modules.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70048"/>
            <a:ext cx="411480" cy="411480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24328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9D45"/>
                </a:solidFill>
              </a:defRPr>
            </a:pPr>
            <a:r>
              <a:t>2. Playlist &amp; Track Query</a:t>
            </a:r>
          </a:p>
          <a:p>
            <a:pPr>
              <a:defRPr sz="1100">
                <a:solidFill>
                  <a:srgbClr val="FFF8F0"/>
                </a:solidFill>
              </a:defRPr>
            </a:pPr>
            <a:r>
              <a:t>Client requests `/api/playlists` and `/api/cloud-r2/songs`. Express queries SQLite DB &amp; Cloudflare R2 S3 bucket.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28416"/>
            <a:ext cx="411480" cy="411480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282696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9D45"/>
                </a:solidFill>
              </a:defRPr>
            </a:pPr>
            <a:r>
              <a:t>3. Cloudflare R2 Bucket Parsing</a:t>
            </a:r>
          </a:p>
          <a:p>
            <a:pPr>
              <a:defRPr sz="1100">
                <a:solidFill>
                  <a:srgbClr val="FFF8F0"/>
                </a:solidFill>
              </a:defRPr>
            </a:pPr>
            <a:r>
              <a:t>Server executes `ListObjectsV2Command` recursively across all bucket folders, cleaning titles and assigning artwork.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86784"/>
            <a:ext cx="411480" cy="411480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41064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9D45"/>
                </a:solidFill>
              </a:defRPr>
            </a:pPr>
            <a:r>
              <a:t>4. Media Stream URL Handshake</a:t>
            </a:r>
          </a:p>
          <a:p>
            <a:pPr>
              <a:defRPr sz="1100">
                <a:solidFill>
                  <a:srgbClr val="FFF8F0"/>
                </a:solidFill>
              </a:defRPr>
            </a:pPr>
            <a:r>
              <a:t>Server returns direct Cloudflare R2 CDN audio URLs (`https://pub-*.r2.dev/folder/song.mp3`).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645152"/>
            <a:ext cx="411480" cy="411480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99432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9D45"/>
                </a:solidFill>
              </a:defRPr>
            </a:pPr>
            <a:r>
              <a:t>5. HTML5 &amp; Web Audio Playback</a:t>
            </a:r>
          </a:p>
          <a:p>
            <a:pPr>
              <a:defRPr sz="1100">
                <a:solidFill>
                  <a:srgbClr val="FFF8F0"/>
                </a:solidFill>
              </a:defRPr>
            </a:pPr>
            <a:r>
              <a:t>Client loads audio URL into `&lt;audio&gt;` element and connects to Web Audio API `AudioContext` for 5-Band Equalizer processing.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303520"/>
            <a:ext cx="411480" cy="411480"/>
          </a:xfrm>
          <a:prstGeom prst="ellipse">
            <a:avLst/>
          </a:prstGeom>
          <a:solidFill>
            <a:srgbClr val="F6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257800"/>
            <a:ext cx="9692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69D45"/>
                </a:solidFill>
              </a:defRPr>
            </a:pPr>
            <a:r>
              <a:t>6. Media Session OS Integration</a:t>
            </a:r>
          </a:p>
          <a:p>
            <a:pPr>
              <a:defRPr sz="1100">
                <a:solidFill>
                  <a:srgbClr val="FFF8F0"/>
                </a:solidFill>
              </a:defRPr>
            </a:pPr>
            <a:r>
              <a:t>Pushes track metadata (Title, Artist, Artwork) to browser/OS `navigator.mediaSession` for lock-screen controls.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Core User Features &amp; UI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Translucent Glass Audio Player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Vinyl Animation Ring: </a:t>
            </a:r>
            <a:r>
              <a:rPr sz="1100">
                <a:solidFill>
                  <a:srgbClr val="FFF8F0"/>
                </a:solidFill>
              </a:rPr>
              <a:t>Circular album art with CSS keyframe rotating vinyl animation during active playback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Full Playback Controls: </a:t>
            </a:r>
            <a:r>
              <a:rPr sz="1100">
                <a:solidFill>
                  <a:srgbClr val="FFF8F0"/>
                </a:solidFill>
              </a:rPr>
              <a:t>Play/Pause toggle, Previous/Next track, Shuffle toggle, Repeat One badge toggle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Interactive Progress Bar: </a:t>
            </a:r>
            <a:r>
              <a:rPr sz="1100">
                <a:solidFill>
                  <a:srgbClr val="FFF8F0"/>
                </a:solidFill>
              </a:rPr>
              <a:t>Seekable progress slider with current time and total track duration display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Volume &amp; Mute Slider: </a:t>
            </a:r>
            <a:r>
              <a:rPr sz="1100">
                <a:solidFill>
                  <a:srgbClr val="FFF8F0"/>
                </a:solidFill>
              </a:rPr>
              <a:t>Custom styled range slider with instant mute/unmute 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Web Audio 5-Band Equalizer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Web Audio API Processing: </a:t>
            </a:r>
            <a:r>
              <a:rPr sz="1100">
                <a:solidFill>
                  <a:srgbClr val="FFF8F0"/>
                </a:solidFill>
              </a:rPr>
              <a:t>Uses `AudioContext` and `BiquadFilterNode` chain for hardware audio filtering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Frequency Bands: </a:t>
            </a:r>
            <a:r>
              <a:rPr sz="1100">
                <a:solidFill>
                  <a:srgbClr val="FFF8F0"/>
                </a:solidFill>
              </a:rPr>
              <a:t>Adjustable sliders for 60Hz (Bass), 250Hz, 1kHz (Mid), 4kHz, and 12kHz (Treble)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Built-in Audio Presets: </a:t>
            </a:r>
            <a:r>
              <a:rPr sz="1100">
                <a:solidFill>
                  <a:srgbClr val="FFF8F0"/>
                </a:solidFill>
              </a:rPr>
              <a:t>One-tap presets: Flat, Vintage Warm, Bass Boost, Vocal, and Treble Boost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Live Visualizer Bars: </a:t>
            </a:r>
            <a:r>
              <a:rPr sz="1100">
                <a:solidFill>
                  <a:srgbClr val="FFF8F0"/>
                </a:solidFill>
              </a:rPr>
              <a:t>5 animated equalizer visualizer bars bouncing in sync with audio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Sleep Timer / Schedule Modal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Auto Playback Off: </a:t>
            </a:r>
            <a:r>
              <a:rPr sz="1100">
                <a:solidFill>
                  <a:srgbClr val="FFF8F0"/>
                </a:solidFill>
              </a:rPr>
              <a:t>Allows users to set countdown timers (15m, 30m, 60m, 90m) to stop playback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Live Countdown Banner: </a:t>
            </a:r>
            <a:r>
              <a:rPr sz="1100">
                <a:solidFill>
                  <a:srgbClr val="FFF8F0"/>
                </a:solidFill>
              </a:rPr>
              <a:t>Shows active remaining time in modal and player notification bar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Gentle Fade Out: </a:t>
            </a:r>
            <a:r>
              <a:rPr sz="1100">
                <a:solidFill>
                  <a:srgbClr val="FFF8F0"/>
                </a:solidFill>
              </a:rPr>
              <a:t>Seamlessly pauses audio when countdown reaches zero to save battery/data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One-Tap Cancel: </a:t>
            </a:r>
            <a:r>
              <a:rPr sz="1100">
                <a:solidFill>
                  <a:srgbClr val="FFF8F0"/>
                </a:solidFill>
              </a:rPr>
              <a:t>Allows instant deactivation of sleep schedule at any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Slide-out Playlist Drawer &amp; Grid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5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Home Mood Grid: </a:t>
            </a:r>
            <a:r>
              <a:rPr sz="1100">
                <a:solidFill>
                  <a:srgbClr val="FFF8F0"/>
                </a:solidFill>
              </a:rPr>
              <a:t>Visual playlist cards rendered with mobile artwork thumbnails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Slide-out Drawer: </a:t>
            </a:r>
            <a:r>
              <a:rPr sz="1100">
                <a:solidFill>
                  <a:srgbClr val="FFF8F0"/>
                </a:solidFill>
              </a:rPr>
              <a:t>Smooth CSS transition drawer accessible from top bar or mobile nav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Random Track Shuffler: </a:t>
            </a:r>
            <a:r>
              <a:rPr sz="1100">
                <a:solidFill>
                  <a:srgbClr val="FFF8F0"/>
                </a:solidFill>
              </a:rPr>
              <a:t>One-click 'Play Random' button to trigger instant random track selection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Track Details Popover: </a:t>
            </a:r>
            <a:r>
              <a:rPr sz="1100">
                <a:solidFill>
                  <a:srgbClr val="FFF8F0"/>
                </a:solidFill>
              </a:rPr>
              <a:t>Hover popover displaying song metadata, artwork, folder path, and duration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Mobile &amp; Responsive Web 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Responsive Design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Mobile Bottom Navigation Bar: </a:t>
            </a:r>
            <a:r>
              <a:rPr sz="1200">
                <a:solidFill>
                  <a:srgbClr val="FFF8F0"/>
                </a:solidFill>
              </a:rPr>
              <a:t>Fixed bottom navigation bar with Home, Playlists, Now Playing, and Schedule touch targets.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Media Session API Integration: </a:t>
            </a:r>
            <a:r>
              <a:rPr sz="1200">
                <a:solidFill>
                  <a:srgbClr val="FFF8F0"/>
                </a:solidFill>
              </a:rPr>
              <a:t>Pushes track title, artist, album art, and actions (`play`, `pause`, `previoustrack`, `nexttrack`) to iOS Control Center &amp; Android Quick Settings.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Touch-Optimized Sliders: </a:t>
            </a:r>
            <a:r>
              <a:rPr sz="1200">
                <a:solidFill>
                  <a:srgbClr val="FFF8F0"/>
                </a:solidFill>
              </a:rPr>
              <a:t>Custom CSS range inputs optimized for finger drag on mobile screens without scroll interference.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Dynamic Artwork Swapping: </a:t>
            </a:r>
            <a:r>
              <a:rPr sz="1200">
                <a:solidFill>
                  <a:srgbClr val="FFF8F0"/>
                </a:solidFill>
              </a:rPr>
              <a:t>Uses desktop vs mobile specific artwork images (`_mobile.jpg` / `_web.png`) to optimize mobile bandwidth.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Visual Interface Reference</a:t>
            </a:r>
          </a:p>
        </p:txBody>
      </p:sp>
      <p:pic>
        <p:nvPicPr>
          <p:cNvPr id="10" name="Picture 9" descr="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301752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09760" y="201168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8F0"/>
                </a:solidFill>
              </a:defRPr>
            </a:pPr>
            <a:r>
              <a:t>Desktop SPA Layout</a:t>
            </a:r>
            <a:br/>
            <a:r>
              <a:t>Full vintage backdrop, translucent glass player &amp; header bar.</a:t>
            </a:r>
          </a:p>
        </p:txBody>
      </p:sp>
      <p:pic>
        <p:nvPicPr>
          <p:cNvPr id="12" name="Picture 11" descr="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3017520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09760" y="4114800"/>
            <a:ext cx="17373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8F0"/>
                </a:solidFill>
              </a:defRPr>
            </a:pPr>
            <a:r>
              <a:t>Mobile Native View</a:t>
            </a:r>
            <a:br/>
            <a:r>
              <a:t>Bottom navigation bar, responsive mood grid, touch player.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Cloudflare R2 Storage &amp; Audio Engine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Cloudflare R2 Storage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S3 Protocol Integration: </a:t>
            </a:r>
            <a:r>
              <a:rPr sz="1200">
                <a:solidFill>
                  <a:srgbClr val="FFF8F0"/>
                </a:solidFill>
              </a:rPr>
              <a:t>Configured using `@aws-sdk/client-s3` targeting `https://&lt;account_id&gt;.r2.cloudflarestorage.com`.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Bucket Credentials: </a:t>
            </a:r>
            <a:r>
              <a:rPr sz="1200">
                <a:solidFill>
                  <a:srgbClr val="FFF8F0"/>
                </a:solidFill>
              </a:rPr>
              <a:t>Bucket Name: `vintage-melodies`, Public Domain: `https://pub-e7f4f743d98b43b89671fe068ee1ee05.r2.dev`.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Recursive Object Pagination: </a:t>
            </a:r>
            <a:r>
              <a:rPr sz="1200">
                <a:solidFill>
                  <a:srgbClr val="FFF8F0"/>
                </a:solidFill>
              </a:rPr>
              <a:t>Uses `ListObjectsV2Command` with `ContinuationToken` loop to fetch ALL audio files across subfolders.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Supported File Formats: </a:t>
            </a:r>
            <a:r>
              <a:rPr sz="1200">
                <a:solidFill>
                  <a:srgbClr val="FFF8F0"/>
                </a:solidFill>
              </a:rPr>
              <a:t>Filters extensions: `.mp3`, `.m4a`, `.wav`, `.flac`, `.aac`, `.ogg`, `.opus`.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Direct CDN Streaming: </a:t>
            </a:r>
            <a:r>
              <a:rPr sz="1200">
                <a:solidFill>
                  <a:srgbClr val="FFF8F0"/>
                </a:solidFill>
              </a:rPr>
              <a:t>Generates direct public HTTP streaming URLs for zero-latency progressive audio playback.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Automated Metadata Normalizer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solidFill>
            <a:srgbClr val="1B1108"/>
          </a:solidFill>
          <a:ln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F6821F"/>
                </a:solidFill>
                <a:latin typeface="Consolas"/>
              </a:defRPr>
            </a:pPr>
            <a:r>
              <a:t>// server/routes/cloud.js - Title &amp; Artist Cleaning</a:t>
            </a:r>
          </a:p>
          <a:p>
            <a:pPr>
              <a:defRPr sz="950">
                <a:solidFill>
                  <a:srgbClr val="F6821F"/>
                </a:solidFill>
                <a:latin typeface="Consolas"/>
              </a:defRPr>
            </a:pPr>
            <a:r>
              <a:t>function parseCleanTitleArtist(filename, folderPath) {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let cleaned = filename.replace(/\.[^/.]+$/, '')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.replace(/\[.*?\]|\(.*?\)/g, '')       // Strip tags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.replace(/sensongs|raagtune|320kbps/gi, '') // Remove site tags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.replace(/^(\d{1,3})[\s._-]+/, '')      // Strip track numbers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.replace(/_/g, ' ').trim();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let title = cleaned;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let artist = folderPath ? `📁 ${folderPath}` : 'Vintage Melodies';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if (cleaned.includes(' - ')) {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const parts = cleaned.split(' - ');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title = parts[0]; artist = parts[1];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}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return { title, artist };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Admin &amp; Content Management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Admin Security &amp; Authentication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Session-Based Auth: </a:t>
            </a:r>
            <a:r>
              <a:rPr sz="1200">
                <a:solidFill>
                  <a:srgbClr val="FFF8F0"/>
                </a:solidFill>
              </a:rPr>
              <a:t>Admin authentication handled via `/api/auth/login` endpoint with Express session cookies.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Stateless Cookie Fallback: </a:t>
            </a:r>
            <a:r>
              <a:rPr sz="1200">
                <a:solidFill>
                  <a:srgbClr val="FFF8F0"/>
                </a:solidFill>
              </a:rPr>
              <a:t>Includes custom `sessionMiddleware` ensuring admin auth state persists in Vercel serverless environments.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Role-Based Privileges: </a:t>
            </a:r>
            <a:r>
              <a:rPr sz="1200">
                <a:solidFill>
                  <a:srgbClr val="FFF8F0"/>
                </a:solidFill>
              </a:rPr>
              <a:t>Non-admin users can browse/play playlists; Admin privileges unlock track management and R2 import.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Protected Endpoints: </a:t>
            </a:r>
            <a:r>
              <a:rPr sz="1200">
                <a:solidFill>
                  <a:srgbClr val="FFF8F0"/>
                </a:solidFill>
              </a:rPr>
              <a:t>Search, playlist creation, song addition, and server logs (`/api/logs`) strictly require admin session.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Cloud R2 Song Picker &amp; Bulk 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Cloud R2 Drawer Panel: </a:t>
            </a:r>
            <a:r>
              <a:rPr sz="1200">
                <a:solidFill>
                  <a:srgbClr val="FFF8F0"/>
                </a:solidFill>
              </a:rPr>
              <a:t>Dedicated UI panel (`cloud-songs-panel`) listing all audio files from Cloudflare R2.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Real-Time Filter Input: </a:t>
            </a:r>
            <a:r>
              <a:rPr sz="1200">
                <a:solidFill>
                  <a:srgbClr val="FFF8F0"/>
                </a:solidFill>
              </a:rPr>
              <a:t>Instant search filtering by track title, artist name, or folder path.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Multi-Select Bulk Bar: </a:t>
            </a:r>
            <a:r>
              <a:rPr sz="1200">
                <a:solidFill>
                  <a:srgbClr val="FFF8F0"/>
                </a:solidFill>
              </a:rPr>
              <a:t>Checkbox selection interface (`cloud-select-all-cb`) allowing selection of multiple R2 tracks.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One-Click Playlist Import: </a:t>
            </a:r>
            <a:r>
              <a:rPr sz="1200">
                <a:solidFill>
                  <a:srgbClr val="FFF8F0"/>
                </a:solidFill>
              </a:rPr>
              <a:t>Adds batch selected R2 tracks into any SQLite playlist in a single atomic database operation.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Playlist Management: </a:t>
            </a:r>
            <a:r>
              <a:rPr sz="1200">
                <a:solidFill>
                  <a:srgbClr val="FFF8F0"/>
                </a:solidFill>
              </a:rPr>
              <a:t>Create new playlists, edit names, upload web/mobile cover images, and reorder songs.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Database Schema &amp; Relational Data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SQLite Database Schema (`./data/vintage-melodies.db`)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2103120"/>
                <a:gridCol w="2103120"/>
              </a:tblGrid>
              <a:tr h="9601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9D45"/>
                          </a:solidFill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9D45"/>
                          </a:solidFill>
                        </a:defRPr>
                      </a:pPr>
                      <a:r>
                        <a:t>Columns &amp; Data Types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9D45"/>
                          </a:solidFill>
                        </a:defRPr>
                      </a:pPr>
                      <a:r>
                        <a:t>Primary / Foreign Keys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9D45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songs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id (INTEGER), external_id (TEXT), title (TEXT), artist (TEXT), album (TEXT), artwork_url (TEXT), duration (INTEGER), media_url (TEXT), source_url (TEXT), created_at (DATETIME)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PRIMARY KEY (id)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Stores audio track metadata and Cloudflare R2 streaming URLs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playlists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id (INTEGER), name (TEXT), web_image (TEXT), mobile_image (TEXT), is_active (INTEGER), created_at (DATETIME), updated_at (DATETIME)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PRIMARY KEY (id)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Stores user-created &amp; curated mood playlists with custom artwork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playlist_songs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id (INTEGER), playlist_id (INTEGER), song_id (INTEGER), sort_order (INTEGER), created_at (DATETIME)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FOREIGN KEY (playlist_id)</a:t>
                      </a:r>
                      <a:br/>
                      <a:r>
                        <a:t>FOREIGN KEY (song_id)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Junction table mapping songs to playlists with custom sort ordering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Transition to Native Android — Goals &amp; Architecture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Key Motivation &amp; Android 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Unbreakable Background Service: </a:t>
            </a:r>
            <a:r>
              <a:rPr sz="1200">
                <a:solidFill>
                  <a:srgbClr val="FFF8F0"/>
                </a:solidFill>
              </a:rPr>
              <a:t>Native Android `MediaSessionService` guarantees playback never stops when screen locks or app is backgrounded.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Hardware Equalizer Access: </a:t>
            </a:r>
            <a:r>
              <a:rPr sz="1200">
                <a:solidFill>
                  <a:srgbClr val="FFF8F0"/>
                </a:solidFill>
              </a:rPr>
              <a:t>Direct integration with Android `AudioEffect.Equalizer` API for superior audio processing performance.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Offline Media Caching: </a:t>
            </a:r>
            <a:r>
              <a:rPr sz="1200">
                <a:solidFill>
                  <a:srgbClr val="FFF8F0"/>
                </a:solidFill>
              </a:rPr>
              <a:t>Seamlessly cache Cloudflare R2 audio tracks to local storage using ExoPlayer `SimpleCache`.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Native Android UI: </a:t>
            </a:r>
            <a:r>
              <a:rPr sz="1200">
                <a:solidFill>
                  <a:srgbClr val="FFF8F0"/>
                </a:solidFill>
              </a:rPr>
              <a:t>Build 100% Jetpack Compose UI maintaining exact vintage aesthetic with smooth 60fps animations.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System Notifications: </a:t>
            </a:r>
            <a:r>
              <a:rPr sz="1200">
                <a:solidFill>
                  <a:srgbClr val="FFF8F0"/>
                </a:solidFill>
              </a:rPr>
              <a:t>Rich media controls in Android Quick Settings, Lock Screen, Wear OS, and Android Auto.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Target Android Architecture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F6821F"/>
                </a:solidFill>
              </a:defRPr>
            </a:pPr>
            <a:r>
              <a:t>▪ UI Layer (Jetpack Compose)</a:t>
            </a:r>
          </a:p>
          <a:p>
            <a:pPr>
              <a:spcAft>
                <a:spcPts val="600"/>
              </a:spcAft>
              <a:defRPr sz="1050">
                <a:solidFill>
                  <a:srgbClr val="FFF8F0"/>
                </a:solidFill>
              </a:defRPr>
            </a:pPr>
            <a:r>
              <a:t>   Vintage Theme • Glass Cards • Equalizer View • Mood Grid</a:t>
            </a:r>
          </a:p>
          <a:p>
            <a:pPr>
              <a:defRPr b="1" sz="1200">
                <a:solidFill>
                  <a:srgbClr val="F6821F"/>
                </a:solidFill>
              </a:defRPr>
            </a:pPr>
            <a:r>
              <a:t>▪ ViewModel &amp; State Layer</a:t>
            </a:r>
          </a:p>
          <a:p>
            <a:pPr>
              <a:spcAft>
                <a:spcPts val="600"/>
              </a:spcAft>
              <a:defRPr sz="1050">
                <a:solidFill>
                  <a:srgbClr val="FFF8F0"/>
                </a:solidFill>
              </a:defRPr>
            </a:pPr>
            <a:r>
              <a:t>   Kotlin `StateFlow` • UI State Management • Event Dispatching</a:t>
            </a:r>
          </a:p>
          <a:p>
            <a:pPr>
              <a:defRPr b="1" sz="1200">
                <a:solidFill>
                  <a:srgbClr val="F6821F"/>
                </a:solidFill>
              </a:defRPr>
            </a:pPr>
            <a:r>
              <a:t>▪ Domain Layer</a:t>
            </a:r>
          </a:p>
          <a:p>
            <a:pPr>
              <a:spcAft>
                <a:spcPts val="600"/>
              </a:spcAft>
              <a:defRPr sz="1050">
                <a:solidFill>
                  <a:srgbClr val="FFF8F0"/>
                </a:solidFill>
              </a:defRPr>
            </a:pPr>
            <a:r>
              <a:t>   Use Cases: `PlayTrackUseCase`, `SyncCloudR2UseCase`, `ManagePlaylists`</a:t>
            </a:r>
          </a:p>
          <a:p>
            <a:pPr>
              <a:defRPr b="1" sz="1200">
                <a:solidFill>
                  <a:srgbClr val="F6821F"/>
                </a:solidFill>
              </a:defRPr>
            </a:pPr>
            <a:r>
              <a:t>▪ Data Layer (Repositories)</a:t>
            </a:r>
          </a:p>
          <a:p>
            <a:pPr>
              <a:spcAft>
                <a:spcPts val="600"/>
              </a:spcAft>
              <a:defRPr sz="1050">
                <a:solidFill>
                  <a:srgbClr val="FFF8F0"/>
                </a:solidFill>
              </a:defRPr>
            </a:pPr>
            <a:r>
              <a:t>   SongRepository • PlaylistRepository • EqualizerRepository</a:t>
            </a:r>
          </a:p>
          <a:p>
            <a:pPr>
              <a:defRPr b="1" sz="1200">
                <a:solidFill>
                  <a:srgbClr val="F6821F"/>
                </a:solidFill>
              </a:defRPr>
            </a:pPr>
            <a:r>
              <a:t>▪ Local &amp; Remote Data Sources</a:t>
            </a:r>
          </a:p>
          <a:p>
            <a:pPr>
              <a:spcAft>
                <a:spcPts val="600"/>
              </a:spcAft>
              <a:defRPr sz="1050">
                <a:solidFill>
                  <a:srgbClr val="FFF8F0"/>
                </a:solidFill>
              </a:defRPr>
            </a:pPr>
            <a:r>
              <a:t>   Room Database (Local SQLite) ↔ Cloudflare R2 S3 SDK (Remote)</a:t>
            </a:r>
          </a:p>
          <a:p>
            <a:pPr>
              <a:defRPr b="1" sz="1200">
                <a:solidFill>
                  <a:srgbClr val="F6821F"/>
                </a:solidFill>
              </a:defRPr>
            </a:pPr>
            <a:r>
              <a:t>▪ Audio Engine Core</a:t>
            </a:r>
          </a:p>
          <a:p>
            <a:pPr>
              <a:spcAft>
                <a:spcPts val="600"/>
              </a:spcAft>
              <a:defRPr sz="1050">
                <a:solidFill>
                  <a:srgbClr val="FFF8F0"/>
                </a:solidFill>
              </a:defRPr>
            </a:pPr>
            <a:r>
              <a:t>   AndroidX Media3 ExoPlayer • `MediaSessionService` • Foreground Service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Android Technology Stack &amp;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Core Framework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Language: </a:t>
            </a:r>
            <a:r>
              <a:rPr sz="1100">
                <a:solidFill>
                  <a:srgbClr val="FFF8F0"/>
                </a:solidFill>
              </a:rPr>
              <a:t>100% Kotlin with Coroutines &amp; Asynchronous `Flow`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Architecture: </a:t>
            </a:r>
            <a:r>
              <a:rPr sz="1100">
                <a:solidFill>
                  <a:srgbClr val="FFF8F0"/>
                </a:solidFill>
              </a:rPr>
              <a:t>MVVM + Clean Architecture (UI, Domain, Data layers)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Dependency Injection: </a:t>
            </a:r>
            <a:r>
              <a:rPr sz="1100">
                <a:solidFill>
                  <a:srgbClr val="FFF8F0"/>
                </a:solidFill>
              </a:rPr>
              <a:t>Hilt (Google recommended DI framework for Android)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Minimum SDK: </a:t>
            </a:r>
            <a:r>
              <a:rPr sz="1100">
                <a:solidFill>
                  <a:srgbClr val="FFF8F0"/>
                </a:solidFill>
              </a:rPr>
              <a:t>Android 7.0 (API level 24) • Target SDK 35 (Android 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UI Framework &amp; Styling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Jetpack Compose: </a:t>
            </a:r>
            <a:r>
              <a:rPr sz="1100">
                <a:solidFill>
                  <a:srgbClr val="FFF8F0"/>
                </a:solidFill>
              </a:rPr>
              <a:t>Modern declarative UI toolkit with Material 3 base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Custom Vintage Theme: </a:t>
            </a:r>
            <a:r>
              <a:rPr sz="1100">
                <a:solidFill>
                  <a:srgbClr val="FFF8F0"/>
                </a:solidFill>
              </a:rPr>
              <a:t>Dark Espresso background, Amber accents, Glassmorphic cards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Image Loading: </a:t>
            </a:r>
            <a:r>
              <a:rPr sz="1100">
                <a:solidFill>
                  <a:srgbClr val="FFF8F0"/>
                </a:solidFill>
              </a:rPr>
              <a:t>Coil (Coroutines-backed image loader for compose)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Navigation: </a:t>
            </a:r>
            <a:r>
              <a:rPr sz="1100">
                <a:solidFill>
                  <a:srgbClr val="FFF8F0"/>
                </a:solidFill>
              </a:rPr>
              <a:t>Jetpack Compose Navigation with type-safe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Audio Engine &amp; Media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Media Framework: </a:t>
            </a:r>
            <a:r>
              <a:rPr sz="1100">
                <a:solidFill>
                  <a:srgbClr val="FFF8F0"/>
                </a:solidFill>
              </a:rPr>
              <a:t>AndroidX Media3 ExoPlayer (`androidx.media3:media3-exoplayer`)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Media Session: </a:t>
            </a:r>
            <a:r>
              <a:rPr sz="1100">
                <a:solidFill>
                  <a:srgbClr val="FFF8F0"/>
                </a:solidFill>
              </a:rPr>
              <a:t>Media3 `MediaSessionService` for background playback service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Audio FX: </a:t>
            </a:r>
            <a:r>
              <a:rPr sz="1100">
                <a:solidFill>
                  <a:srgbClr val="FFF8F0"/>
                </a:solidFill>
              </a:rPr>
              <a:t>Native Android `AudioEffect.Equalizer` 5-band frequency control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Notification Manager: </a:t>
            </a:r>
            <a:r>
              <a:rPr sz="1100">
                <a:solidFill>
                  <a:srgbClr val="FFF8F0"/>
                </a:solidFill>
              </a:rPr>
              <a:t>Custom `PlayerNotificationManager` for lock-screen controls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Database, Networking &amp;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80559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Local Persistence: </a:t>
            </a:r>
            <a:r>
              <a:rPr sz="1100">
                <a:solidFill>
                  <a:srgbClr val="FFF8F0"/>
                </a:solidFill>
              </a:rPr>
              <a:t>Room Database (`androidx.room`) mirroring web SQLite schema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Cloudflare R2 Integration: </a:t>
            </a:r>
            <a:r>
              <a:rPr sz="1100">
                <a:solidFill>
                  <a:srgbClr val="FFF8F0"/>
                </a:solidFill>
              </a:rPr>
              <a:t>AWS SDK for Kotlin (`aws.sdk.kotlin:s3`) / Ktor HTTP Client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Background Jobs: </a:t>
            </a:r>
            <a:r>
              <a:rPr sz="1100">
                <a:solidFill>
                  <a:srgbClr val="FFF8F0"/>
                </a:solidFill>
              </a:rPr>
              <a:t>WorkManager (`androidx.work`) for periodic cloud bucket sync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FFD180"/>
                </a:solidFill>
              </a:rPr>
              <a:t>• Disk Cache: </a:t>
            </a:r>
            <a:r>
              <a:rPr sz="1100">
                <a:solidFill>
                  <a:srgbClr val="FFF8F0"/>
                </a:solidFill>
              </a:rPr>
              <a:t>ExoPlayer `SimpleCache` for offline audio track playback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Android Audio Engine Design (Media3 / ExoPlayer)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Media3 Foreground Service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PlaybackService Implementation: </a:t>
            </a:r>
            <a:r>
              <a:rPr sz="1200">
                <a:solidFill>
                  <a:srgbClr val="FFF8F0"/>
                </a:solidFill>
              </a:rPr>
              <a:t>Extends `MediaSessionService` to run ExoPlayer inside a foreground service with active notification.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Audio Focus Management: </a:t>
            </a:r>
            <a:r>
              <a:rPr sz="1200">
                <a:solidFill>
                  <a:srgbClr val="FFF8F0"/>
                </a:solidFill>
              </a:rPr>
              <a:t>Automatically handles `AUDIOFOCUS_GAIN` and `AUDIOFOCUS_LOSS` (pauses playback during phone calls or navigation directions).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Progressive MP3 Streaming: </a:t>
            </a:r>
            <a:r>
              <a:rPr sz="1200">
                <a:solidFill>
                  <a:srgbClr val="FFF8F0"/>
                </a:solidFill>
              </a:rPr>
              <a:t>ExoPlayer handles HTTP range requests to stream audio seamlessly from Cloudflare R2 CDN.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Lock-Screen &amp; Notification UI: </a:t>
            </a:r>
            <a:r>
              <a:rPr sz="1200">
                <a:solidFill>
                  <a:srgbClr val="FFF8F0"/>
                </a:solidFill>
              </a:rPr>
              <a:t>Connects to Android System Media Controls, supporting Play, Pause, Next, Previous, and Seek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Media3 Service Code Implementation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solidFill>
            <a:srgbClr val="1B1108"/>
          </a:solidFill>
          <a:ln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50">
                <a:solidFill>
                  <a:srgbClr val="F6821F"/>
                </a:solidFill>
                <a:latin typeface="Consolas"/>
              </a:defRPr>
            </a:pPr>
            <a:r>
              <a:t>// android/service/PlaybackService.kt</a:t>
            </a:r>
          </a:p>
          <a:p>
            <a:pPr>
              <a:defRPr sz="950">
                <a:solidFill>
                  <a:srgbClr val="F6821F"/>
                </a:solidFill>
                <a:latin typeface="Consolas"/>
              </a:defRPr>
            </a:pPr>
            <a:r>
              <a:t>class PlaybackService : MediaSessionService() {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private var mediaSession: MediaSession? = null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override fun onCreate() {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super.onCreate()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val player = ExoPlayer.Builder(this)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  .setAudioAttributes(AudioAttributes.DEFAULT, true)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  .setHandleAudioBecomingNoisy(true)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  .build()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mediaSession = MediaSession.Builder(this, player).build()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}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override fun onGetSession(controllerInfo: ...): MediaSession? {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  return mediaSession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  }</a:t>
            </a:r>
          </a:p>
          <a:p>
            <a:pPr>
              <a:defRPr sz="950">
                <a:solidFill>
                  <a:srgbClr val="FFF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Android Database Architecture &amp; Cloud Sync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Room Database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Local SQLite Mirror: </a:t>
            </a:r>
            <a:r>
              <a:rPr sz="1200">
                <a:solidFill>
                  <a:srgbClr val="FFF8F0"/>
                </a:solidFill>
              </a:rPr>
              <a:t>Room DB schema directly mirrors web project SQLite tables (`SongEntity`, `PlaylistEntity`, `PlaylistSongCrossRef`).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Reactive Flow Queries: </a:t>
            </a:r>
            <a:r>
              <a:rPr sz="1200">
                <a:solidFill>
                  <a:srgbClr val="FFF8F0"/>
                </a:solidFill>
              </a:rPr>
              <a:t>Room DAOs expose Kotlin `Flow&lt;List&lt;SongEntity&gt;&gt;` for real-time automatic UI updates when data changes.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Offline Cache Engine: </a:t>
            </a:r>
            <a:r>
              <a:rPr sz="1200">
                <a:solidFill>
                  <a:srgbClr val="FFF8F0"/>
                </a:solidFill>
              </a:rPr>
              <a:t>ExoPlayer `SimpleCache` with `LeastRecentlyUsedCacheEvictor` caches played Cloudflare R2 tracks to device storage.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Zero Connectivity Playback: </a:t>
            </a:r>
            <a:r>
              <a:rPr sz="1200">
                <a:solidFill>
                  <a:srgbClr val="FFF8F0"/>
                </a:solidFill>
              </a:rPr>
              <a:t>Users can play previously streamed or cached tracks even when completely offline.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Cloudflare R2 Sync Engine (WorkManager)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AWS Kotlin S3 SDK Client: </a:t>
            </a:r>
            <a:r>
              <a:rPr sz="1200">
                <a:solidFill>
                  <a:srgbClr val="FFF8F0"/>
                </a:solidFill>
              </a:rPr>
              <a:t>Direct S3 API connection to Cloudflare R2 endpoint using `S3Client` in Kotlin.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Automated Metadata Parser: </a:t>
            </a:r>
            <a:r>
              <a:rPr sz="1200">
                <a:solidFill>
                  <a:srgbClr val="FFF8F0"/>
                </a:solidFill>
              </a:rPr>
              <a:t>Ported string normalization logic cleaning track numbers and website tags from filenames.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Periodic Background Sync: </a:t>
            </a:r>
            <a:r>
              <a:rPr sz="1200">
                <a:solidFill>
                  <a:srgbClr val="FFF8F0"/>
                </a:solidFill>
              </a:rPr>
              <a:t>Android `WorkManager` runs background jobs to query Cloudflare R2 and update local Room DB.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FFD180"/>
                </a:solidFill>
              </a:rPr>
              <a:t>• Delta Synchronization: </a:t>
            </a:r>
            <a:r>
              <a:rPr sz="1200">
                <a:solidFill>
                  <a:srgbClr val="FFF8F0"/>
                </a:solidFill>
              </a:rPr>
              <a:t>Only inserts new or updated R2 objects into Room DB to minimize network and battery usage.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UI/UX Mapping — Web Components to Jetpack Compose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UI Element Transformation Blueprint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347472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9D45"/>
                          </a:solidFill>
                        </a:defRPr>
                      </a:pPr>
                      <a:r>
                        <a:t>Web UI Component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9D45"/>
                          </a:solidFill>
                        </a:defRPr>
                      </a:pPr>
                      <a:r>
                        <a:t>Jetpack Compose Equivalent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E69D45"/>
                          </a:solidFill>
                        </a:defRPr>
                      </a:pPr>
                      <a:r>
                        <a:t>Design &amp; Animation Notes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Full-screen Vintage Background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Box + Image(ContentScale.Crop) + Surface(color = DarkOverlay)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Warm dark espresso overlay over retro village graphics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Translucent Glass Player Bar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Surface(color = CardBg, border = AmberBorder, shape = RoundedCornerShape(16.dp))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Glassmorphic elevation, vinyl rotating infinite rotation modifier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Web Audio 5-Band Equalizer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ModalBottomSheet + Custom Slider Canvas + EqualizerVisualizerBars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5 interactive sliders connected to Android AudioEffect.Equalizer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Mobile Bottom Navigation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NavigationBar + NavigationBarItem(selectedIcon, label)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Custom dark gold styling matching web mobile bottom nav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Slide-out Playlist Drawer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ModalNavigationDrawer / AnimatedVisibility(slideInHorizontally)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FFF8F0"/>
                          </a:solidFill>
                        </a:defRPr>
                      </a:pPr>
                      <a:r>
                        <a:t>Smooth slide-in drawer showing mood playlists and song lists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Android Security, Auth &amp; State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State Management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Unidirectional Data Flow (UDF): </a:t>
            </a:r>
            <a:r>
              <a:rPr sz="1200">
                <a:solidFill>
                  <a:srgbClr val="FFF8F0"/>
                </a:solidFill>
              </a:rPr>
              <a:t>UI emits User Events → ViewModel processes logic → Emits updated immutable `StateFlow` to Compose UI.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Sealed UI State Classes: </a:t>
            </a:r>
            <a:r>
              <a:rPr sz="1200">
                <a:solidFill>
                  <a:srgbClr val="FFF8F0"/>
                </a:solidFill>
              </a:rPr>
              <a:t>Modeled using Kotlin sealed interfaces: `PlayerUiState.Loading`, `PlayerUiState.Success`, `PlayerUiState.Error`.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Single Source of Truth: </a:t>
            </a:r>
            <a:r>
              <a:rPr sz="1200">
                <a:solidFill>
                  <a:srgbClr val="FFF8F0"/>
                </a:solidFill>
              </a:rPr>
              <a:t>Room DB acts as single source of truth; UI reacts automatically to Room `Flow` updates.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Process Death Resilience: </a:t>
            </a:r>
            <a:r>
              <a:rPr sz="1200">
                <a:solidFill>
                  <a:srgbClr val="FFF8F0"/>
                </a:solidFill>
              </a:rPr>
              <a:t>SavedStateHandle preserves player position and active playlist during Android activity destruction.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Security &amp; Admin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Encrypted Storage: </a:t>
            </a:r>
            <a:r>
              <a:rPr sz="1200">
                <a:solidFill>
                  <a:srgbClr val="FFF8F0"/>
                </a:solidFill>
              </a:rPr>
              <a:t>Admin credentials &amp; session tokens stored securely via Jetpack `EncryptedSharedPreferences` / Proto DataStore.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Cloudflare R2 Keys: </a:t>
            </a:r>
            <a:r>
              <a:rPr sz="1200">
                <a:solidFill>
                  <a:srgbClr val="FFF8F0"/>
                </a:solidFill>
              </a:rPr>
              <a:t>R2 Access Keys encrypted at rest or fetched via secure remote config rather than hardcoded in source.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HTTPS Certificate Pinning: </a:t>
            </a:r>
            <a:r>
              <a:rPr sz="1200">
                <a:solidFill>
                  <a:srgbClr val="FFF8F0"/>
                </a:solidFill>
              </a:rPr>
              <a:t>Ensures secure TLS communication with Cloudflare R2 storage endpoints.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FFD180"/>
                </a:solidFill>
              </a:rPr>
              <a:t>• Admin Privilege Scope: </a:t>
            </a:r>
            <a:r>
              <a:rPr sz="1200">
                <a:solidFill>
                  <a:srgbClr val="FFF8F0"/>
                </a:solidFill>
              </a:rPr>
              <a:t>Admin features (R2 song picker, bulk playlist edit) secured behind PIN / Password prompt dialog.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Web vs Native Android Feature Comparison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Feature Specification &amp; Parity Analysis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01168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  <a:gridCol w="3291840"/>
                <a:gridCol w="146304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E69D45"/>
                          </a:solidFill>
                        </a:defRPr>
                      </a:pPr>
                      <a:r>
                        <a:t>Feature Capability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E69D45"/>
                          </a:solidFill>
                        </a:defRPr>
                      </a:pPr>
                      <a:r>
                        <a:t>Existing Web Implementation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E69D45"/>
                          </a:solidFill>
                        </a:defRPr>
                      </a:pPr>
                      <a:r>
                        <a:t>Native Android Implementation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E69D45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40251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Background Playback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HTML5 Audio + MediaSession JS (Throttled by OS)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Media3 ExoPlayer + Foreground Service (Guaranteed)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6821F"/>
                          </a:solidFill>
                        </a:defRPr>
                      </a:pPr>
                      <a:r>
                        <a:t>SUPERIOR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Audio Equalizer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Web Audio API BiquadFilterNode (5-Band)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Android Native AudioEffect.Equalizer (5-Band)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6821F"/>
                          </a:solidFill>
                        </a:defRPr>
                      </a:pPr>
                      <a:r>
                        <a:t>PARITY / ENHANCED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Cloud Storage Stream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Cloudflare R2 S3 SDK via Node.js Express Server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AWS Kotlin S3 SDK / REST Client to Cloudflare R2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6821F"/>
                          </a:solidFill>
                        </a:defRPr>
                      </a:pPr>
                      <a:r>
                        <a:t>PARITY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Offline Track Caching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Not Supported (Requires Active Internet Connection)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ExoPlayer SimpleCache + Room Local DB Storage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6821F"/>
                          </a:solidFill>
                        </a:defRPr>
                      </a:pPr>
                      <a:r>
                        <a:t>NEW FEATURE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Sleep Timer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JS setTimeout Countdown Timer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Android AlarmManager / Foreground Service Timer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6821F"/>
                          </a:solidFill>
                        </a:defRPr>
                      </a:pPr>
                      <a:r>
                        <a:t>ENHANCED</a:t>
                      </a:r>
                    </a:p>
                  </a:txBody>
                  <a:tcPr>
                    <a:solidFill>
                      <a:srgbClr val="281B0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Lock-Screen Controls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Browser MediaSession API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FF8F0"/>
                          </a:solidFill>
                        </a:defRPr>
                      </a:pPr>
                      <a:r>
                        <a:t>Native Quick Settings &amp; Lockscreen Notification Media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6821F"/>
                          </a:solidFill>
                        </a:defRPr>
                      </a:pPr>
                      <a:r>
                        <a:t>SUPERIOR</a:t>
                      </a:r>
                    </a:p>
                  </a:txBody>
                  <a:tcPr>
                    <a:solidFill>
                      <a:srgbClr val="1F14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Android Development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Phase 1: Foundation &amp; Audio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6821F"/>
                </a:solidFill>
              </a:defRPr>
            </a:pPr>
            <a:r>
              <a:t>Weeks 1 - 2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Initialize Android Studio project with Jetpack Compose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Implement Media3 ExoPlayer &amp; MediaSessionService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Configure Cloudflare R2 S3 audio streaming client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Build basic notification &amp; background playback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Phase 2: Database &amp; R2 Sync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6002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6821F"/>
                </a:solidFill>
              </a:defRPr>
            </a:pPr>
            <a:r>
              <a:t>Weeks 3 - 4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Setup Room Database schema (Songs, Playlists, Junction)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Build Cloudflare R2 recursive object parser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Implement WorkManager for background cloud sync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Setup ExoPlayer SimpleCache for offline audio caching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Phase 3: Vintage UI &amp; Equalizer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0690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6821F"/>
                </a:solidFill>
              </a:defRPr>
            </a:pPr>
            <a:r>
              <a:t>Weeks 5 - 6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Build custom Jetpack Compose Vintage Glass Theme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Implement 5-Band Equalizer UI &amp; AudioEffect integration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Develop Sleep Timer modal &amp; countdown service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Implement Slide-out Playlist Drawer &amp; Mood Grid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31920"/>
            <a:ext cx="5212080" cy="228600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069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Phase 4: Admin Features &amp; Release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0690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6821F"/>
                </a:solidFill>
              </a:defRPr>
            </a:pPr>
            <a:r>
              <a:t>Weeks 7 - 8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52628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Build Admin Authentication &amp; Security Layer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Implement Cloud R2 Song Picker &amp; Bulk Add dialog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Conduct performance tuning, battery &amp; memory QA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FFF8F0"/>
                </a:solidFill>
              </a:rPr>
              <a:t>• Build signed Release APK &amp; Google Play AAB bundle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D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6821F"/>
                </a:solidFill>
              </a:defRPr>
            </a:pPr>
            <a:r>
              <a:t>VINTAGE MELODIES ARCHITECTURE &amp; ANDROID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8F0"/>
                </a:solidFill>
              </a:defRPr>
            </a:pPr>
            <a:r>
              <a:t>Technical Reference &amp; Appendix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Cloudflare R2 Bucket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00">
                <a:solidFill>
                  <a:srgbClr val="FFD180"/>
                </a:solidFill>
              </a:rPr>
              <a:t>• Account ID: </a:t>
            </a:r>
            <a:r>
              <a:rPr sz="1100">
                <a:solidFill>
                  <a:srgbClr val="FFF8F0"/>
                </a:solidFill>
              </a:rPr>
              <a:t>e3fc7139f24a8746c04bca71c7b0b400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D180"/>
                </a:solidFill>
              </a:rPr>
              <a:t>• Bucket Name: </a:t>
            </a:r>
            <a:r>
              <a:rPr sz="1100">
                <a:solidFill>
                  <a:srgbClr val="FFF8F0"/>
                </a:solidFill>
              </a:rPr>
              <a:t>vintage-melodies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D180"/>
                </a:solidFill>
              </a:rPr>
              <a:t>• S3 Endpoint: </a:t>
            </a:r>
            <a:r>
              <a:rPr sz="1100">
                <a:solidFill>
                  <a:srgbClr val="FFF8F0"/>
                </a:solidFill>
              </a:rPr>
              <a:t>https://e3fc7139f24a8746c04bca71c7b0b400.r2.cloudflarestorage.com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D180"/>
                </a:solidFill>
              </a:rPr>
              <a:t>• Public CDN Domain: </a:t>
            </a:r>
            <a:r>
              <a:rPr sz="1100">
                <a:solidFill>
                  <a:srgbClr val="FFF8F0"/>
                </a:solidFill>
              </a:rPr>
              <a:t>https://pub-e7f4f743d98b43b89671fe068ee1ee05.r2.dev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D180"/>
                </a:solidFill>
              </a:rPr>
              <a:t>• Audio File Formats: </a:t>
            </a:r>
            <a:r>
              <a:rPr sz="1100">
                <a:solidFill>
                  <a:srgbClr val="FFF8F0"/>
                </a:solidFill>
              </a:rPr>
              <a:t>.mp3, .m4a, .wav, .flac, .aac, .ogg, .opus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0D"/>
          </a:solidFill>
          <a:ln w="19050">
            <a:solidFill>
              <a:srgbClr val="6E4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9D45"/>
                </a:solidFill>
              </a:defRPr>
            </a:pPr>
            <a:r>
              <a:t>Web API Endpoints Blueprint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POST /api/auth/login: </a:t>
            </a:r>
            <a:r>
              <a:rPr sz="1050">
                <a:solidFill>
                  <a:srgbClr val="FFF8F0"/>
                </a:solidFill>
              </a:rPr>
              <a:t>Authenticate Admin user session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POST /api/auth/logout: </a:t>
            </a:r>
            <a:r>
              <a:rPr sz="1050">
                <a:solidFill>
                  <a:srgbClr val="FFF8F0"/>
                </a:solidFill>
              </a:rPr>
              <a:t>Terminate Admin user session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GET /api/auth/status: </a:t>
            </a:r>
            <a:r>
              <a:rPr sz="1050">
                <a:solidFill>
                  <a:srgbClr val="FFF8F0"/>
                </a:solidFill>
              </a:rPr>
              <a:t>Verify current session admin privileges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GET /api/cloud-r2/songs: </a:t>
            </a:r>
            <a:r>
              <a:rPr sz="1050">
                <a:solidFill>
                  <a:srgbClr val="FFF8F0"/>
                </a:solidFill>
              </a:rPr>
              <a:t>Fetch all audio tracks from Cloudflare R2 bucket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GET /api/playlists: </a:t>
            </a:r>
            <a:r>
              <a:rPr sz="1050">
                <a:solidFill>
                  <a:srgbClr val="FFF8F0"/>
                </a:solidFill>
              </a:rPr>
              <a:t>Fetch all playlists &amp; track counts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POST /api/playlists: </a:t>
            </a:r>
            <a:r>
              <a:rPr sz="1050">
                <a:solidFill>
                  <a:srgbClr val="FFF8F0"/>
                </a:solidFill>
              </a:rPr>
              <a:t>Create new playlist (Admin only)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GET /api/playlists/:id: </a:t>
            </a:r>
            <a:r>
              <a:rPr sz="1050">
                <a:solidFill>
                  <a:srgbClr val="FFF8F0"/>
                </a:solidFill>
              </a:rPr>
              <a:t>Fetch playlist details and contained songs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POST /api/playlists/:id/songs: </a:t>
            </a:r>
            <a:r>
              <a:rPr sz="1050">
                <a:solidFill>
                  <a:srgbClr val="FFF8F0"/>
                </a:solidFill>
              </a:rPr>
              <a:t>Add song(s) to playlist (Admin only)</a:t>
            </a:r>
          </a:p>
          <a:p>
            <a:pPr>
              <a:spcAft>
                <a:spcPts val="500"/>
              </a:spcAft>
            </a:pPr>
            <a:r>
              <a:rPr b="1" sz="1050">
                <a:solidFill>
                  <a:srgbClr val="FFD180"/>
                </a:solidFill>
              </a:rPr>
              <a:t>• DELETE /api/playlists/:id/songs/:songId: </a:t>
            </a:r>
            <a:r>
              <a:rPr sz="1050">
                <a:solidFill>
                  <a:srgbClr val="FFF8F0"/>
                </a:solidFill>
              </a:rPr>
              <a:t>Remove song from playlist (Admin only)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